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62" y="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0D2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20C99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D2FF"/>
                </a:solidFill>
                <a:latin typeface="맑은 고딕"/>
              </a:rPr>
              <a:t>K P B R I D G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194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 dirty="0" err="1">
                <a:solidFill>
                  <a:srgbClr val="FFFFFF"/>
                </a:solidFill>
                <a:latin typeface="맑은 고딕"/>
              </a:rPr>
              <a:t>한국</a:t>
            </a:r>
            <a:r>
              <a:rPr sz="6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맑은 고딕"/>
              </a:rPr>
              <a:t>치프</a:t>
            </a:r>
            <a:r>
              <a:rPr lang="en-US" sz="6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ko-KR" altLang="en-US" sz="6000" b="1" dirty="0">
                <a:solidFill>
                  <a:srgbClr val="FFFFFF"/>
                </a:solidFill>
                <a:latin typeface="맑은 고딕"/>
              </a:rPr>
              <a:t>차익</a:t>
            </a:r>
            <a:r>
              <a:rPr sz="6000" b="1" dirty="0">
                <a:solidFill>
                  <a:srgbClr val="FFFFFF"/>
                </a:solidFill>
                <a:latin typeface="맑은 고딕"/>
              </a:rPr>
              <a:t>,</a:t>
            </a:r>
          </a:p>
          <a:p>
            <a:pPr algn="l">
              <a:lnSpc>
                <a:spcPct val="110000"/>
              </a:lnSpc>
            </a:pPr>
            <a:r>
              <a:rPr sz="6000" b="1" dirty="0" err="1">
                <a:solidFill>
                  <a:srgbClr val="FFFFFF"/>
                </a:solidFill>
                <a:latin typeface="맑은 고딕"/>
              </a:rPr>
              <a:t>쉽고</a:t>
            </a:r>
            <a:r>
              <a:rPr sz="6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맑은 고딕"/>
              </a:rPr>
              <a:t>안전하게</a:t>
            </a:r>
            <a:r>
              <a:rPr sz="6000" b="1" dirty="0">
                <a:solidFill>
                  <a:srgbClr val="FFFFFF"/>
                </a:solidFill>
                <a:latin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맑은 고딕"/>
              </a:rPr>
              <a:t>해외↔국내 거래소 시세 차익을 자동화된 플랫폼으로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0D2FF"/>
                </a:solidFill>
                <a:latin typeface="맑은 고딕"/>
              </a:rPr>
              <a:t>1시간 이내 정산 · 텔레그램 실시간 알림 · 5중 보안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52160"/>
            <a:ext cx="274320" cy="36576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7332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kpbrdg.agency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53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D2FF"/>
                </a:solidFill>
                <a:latin typeface="맑은 고딕"/>
              </a:rPr>
              <a:t>Service Introduction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김치 프리미엄(Kimchi Premium)이란?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국내 거래소와 해외 거래소의 시세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1206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7BFF"/>
                </a:solidFill>
                <a:latin typeface="맑은 고딕"/>
              </a:rPr>
              <a:t>왜 차이가 발생하나요?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57200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• 한국 거래소(Upbit, Bithumb)는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자국 통화·수요로 인해 시세가 형성됩니다.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333333"/>
              </a:solidFill>
              <a:latin typeface="맑은 고딕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• 해외 거래소(Binance, OKX, HTX 등)는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글로벌 USDT 기반 시세입니다.</a:t>
            </a:r>
          </a:p>
          <a:p>
            <a:pPr algn="l">
              <a:lnSpc>
                <a:spcPct val="130000"/>
              </a:lnSpc>
            </a:pPr>
            <a:endParaRPr sz="1400" b="0">
              <a:solidFill>
                <a:srgbClr val="333333"/>
              </a:solidFill>
              <a:latin typeface="맑은 고딕"/>
            </a:endParaRP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0C997"/>
                </a:solidFill>
                <a:latin typeface="맑은 고딕"/>
              </a:rPr>
              <a:t>• 두 시세 사이의 격차 = 김치 프리미엄(김프)</a:t>
            </a:r>
          </a:p>
          <a:p>
            <a:pPr algn="l">
              <a:lnSpc>
                <a:spcPct val="130000"/>
              </a:lnSpc>
            </a:pPr>
            <a:endParaRPr sz="1400" b="1">
              <a:solidFill>
                <a:srgbClr val="20C997"/>
              </a:solidFill>
              <a:latin typeface="맑은 고딕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• 평균 3 ~ 5%, 시장 변동기에는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최대 10%까지도 발생합니다.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0876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7BFF"/>
                </a:solidFill>
                <a:latin typeface="맑은 고딕"/>
              </a:rPr>
              <a:t>BTC 1코인 기준 (예시)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2377440" cy="2468880"/>
          </a:xfrm>
          <a:prstGeom prst="roundRect">
            <a:avLst>
              <a:gd name="adj" fmla="val 8000"/>
            </a:avLst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651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해외 거래소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71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Binance / OKX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747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212529"/>
                </a:solidFill>
                <a:latin typeface="맑은 고딕"/>
              </a:rPr>
              <a:t>1,000만원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51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≒ 7,140 USDT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32520" y="3520440"/>
            <a:ext cx="502920" cy="365760"/>
          </a:xfrm>
          <a:prstGeom prst="rightArrow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81160" y="2423160"/>
            <a:ext cx="2377440" cy="2468880"/>
          </a:xfrm>
          <a:prstGeom prst="roundRect">
            <a:avLst>
              <a:gd name="adj" fmla="val 8000"/>
            </a:avLst>
          </a:prstGeom>
          <a:solidFill>
            <a:srgbClr val="E6F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651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CA678"/>
                </a:solidFill>
                <a:latin typeface="맑은 고딕"/>
              </a:rPr>
              <a:t>국내 거래소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Upbit / Bithumb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747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0CA678"/>
                </a:solidFill>
                <a:latin typeface="맑은 고딕"/>
              </a:rPr>
              <a:t>1,035만원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251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원화 직거래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5074920"/>
            <a:ext cx="5029200" cy="777240"/>
          </a:xfrm>
          <a:prstGeom prst="roundRect">
            <a:avLst>
              <a:gd name="adj" fmla="val 40000"/>
            </a:avLst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▲ 차익 약 +3.5%   = 35만원 (1,000만원 거래 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KPBridge가 모든 과정을 대신합니다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복잡한 해외 송금·환전·타이밍 — 클릭 한 번으로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879" y="1691640"/>
            <a:ext cx="26060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6879" y="1691640"/>
            <a:ext cx="2606040" cy="10972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879" y="21488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 i="0">
                <a:solidFill>
                  <a:srgbClr val="007BFF"/>
                </a:solidFill>
                <a:latin typeface="맑은 고딕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894179" y="3566159"/>
            <a:ext cx="91440" cy="9144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879" y="37947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회원가입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" y="44348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추천인 코드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" y="4800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간편 가입 (1분)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52063" y="3593592"/>
            <a:ext cx="146304" cy="219456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07511" y="1691640"/>
            <a:ext cx="26060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7511" y="1691640"/>
            <a:ext cx="2606040" cy="109728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07511" y="21488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 i="0">
                <a:solidFill>
                  <a:srgbClr val="00D2FF"/>
                </a:solidFill>
                <a:latin typeface="맑은 고딕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4664811" y="3566159"/>
            <a:ext cx="91440" cy="9144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7511" y="37947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입금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7511" y="44348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USDT 또는 KRW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7511" y="4800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에스크로 안전 보관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22695" y="3593592"/>
            <a:ext cx="146304" cy="219456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78143" y="1691640"/>
            <a:ext cx="26060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8143" y="1691640"/>
            <a:ext cx="2606040" cy="109728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8143" y="21488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 i="0">
                <a:solidFill>
                  <a:srgbClr val="20C997"/>
                </a:solidFill>
                <a:latin typeface="맑은 고딕"/>
              </a:rPr>
              <a:t>03</a:t>
            </a:r>
          </a:p>
        </p:txBody>
      </p:sp>
      <p:sp>
        <p:nvSpPr>
          <p:cNvPr id="26" name="Oval 25"/>
          <p:cNvSpPr/>
          <p:nvPr/>
        </p:nvSpPr>
        <p:spPr>
          <a:xfrm>
            <a:off x="7435443" y="3566159"/>
            <a:ext cx="91440" cy="91440"/>
          </a:xfrm>
          <a:prstGeom prst="ellipse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8143" y="37947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거래 신청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8143" y="44348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거래소 · 금액 선택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143" y="4800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실시간 김프 확인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93327" y="3593592"/>
            <a:ext cx="146304" cy="219456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48775" y="1691640"/>
            <a:ext cx="26060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48775" y="1691640"/>
            <a:ext cx="2606040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48775" y="21488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 i="0">
                <a:solidFill>
                  <a:srgbClr val="0CA678"/>
                </a:solidFill>
                <a:latin typeface="맑은 고딕"/>
              </a:rPr>
              <a:t>04</a:t>
            </a:r>
          </a:p>
        </p:txBody>
      </p:sp>
      <p:sp>
        <p:nvSpPr>
          <p:cNvPr id="34" name="Oval 33"/>
          <p:cNvSpPr/>
          <p:nvPr/>
        </p:nvSpPr>
        <p:spPr>
          <a:xfrm>
            <a:off x="10206075" y="3566159"/>
            <a:ext cx="91440" cy="9144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8775" y="37947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수익 정산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8775" y="44348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1시간 이내 출금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8775" y="4800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텔레그램 자동 알림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40000"/>
            </a:avLst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07BFF"/>
                </a:solidFill>
                <a:latin typeface="맑은 고딕"/>
              </a:rPr>
              <a:t>✓ 실시간 김프 자동 조회   ✓ 5중 에스크로 보안   ✓ 1시간 이내 정산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핵심 기능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거래의 모든 단계를 자동화한 KPBridge의 4가지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09728" cy="210312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6400" b="1" i="0">
                <a:solidFill>
                  <a:srgbClr val="E7F1FF"/>
                </a:solidFill>
                <a:latin typeface="맑은 고딕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148840"/>
            <a:ext cx="548640" cy="54864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실시간 김프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432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Binance · OKX · HTX · Gate.io ↔ Upbit · Bithumb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127247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조합별 김프를 1초 단위로 갱신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916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691640"/>
            <a:ext cx="109728" cy="210312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87000" y="18288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6400" b="1" i="0">
                <a:solidFill>
                  <a:srgbClr val="E7F1FF"/>
                </a:solidFill>
                <a:latin typeface="맑은 고딕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원클릭 자동 매도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7432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거래 금액 입력 한 번으로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127247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KRW · USDT 양방향 자동 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109728" cy="2103120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1605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6400" b="1" i="0">
                <a:solidFill>
                  <a:srgbClr val="E7F1FF"/>
                </a:solidFill>
                <a:latin typeface="맑은 고딕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4480560"/>
            <a:ext cx="548640" cy="548640"/>
          </a:xfrm>
          <a:prstGeom prst="ellipse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37360" y="448056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다국어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0749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한국어 / 영어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458967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글로벌 사용자 누구나 즉시 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0233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4023360"/>
            <a:ext cx="109728" cy="210312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87000" y="41605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6400" b="1" i="0">
                <a:solidFill>
                  <a:srgbClr val="E7F1FF"/>
                </a:solidFill>
                <a:latin typeface="맑은 고딕"/>
              </a:rPr>
              <a:t>04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4480560"/>
            <a:ext cx="548640" cy="54864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448056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텔레그램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0749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거래 접수 / 처리중 / 완료 단계마다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458967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C757D"/>
                </a:solidFill>
                <a:latin typeface="맑은 고딕"/>
              </a:rPr>
              <a:t>실시간 푸시 알림 자동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수익 구조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거래 금액 기준 평균 3.5% ~ 5.0% 안정 수익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0292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029200" cy="109728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평균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20C997"/>
                </a:solidFill>
                <a:latin typeface="맑은 고딕"/>
              </a:rPr>
              <a:t>3.5 ~ 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12529"/>
                </a:solidFill>
                <a:latin typeface="맑은 고딕"/>
              </a:rPr>
              <a:t>거래 금액 기준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1148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맑은 고딕"/>
              </a:rPr>
              <a:t>가입 즉시 추천 코드 자동 발급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9884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맑은 고딕"/>
              </a:rPr>
              <a:t>추천 거래량 기준 수수료 일부 환원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8289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82896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맑은 고딕"/>
              </a:rPr>
              <a:t>피라미드 X — 추천만 추천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6694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66944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맑은 고딕"/>
              </a:rPr>
              <a:t>투명한 입출금 내역 실시간 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691640"/>
            <a:ext cx="57607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1691640"/>
            <a:ext cx="5760720" cy="10972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9659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7BFF"/>
                </a:solidFill>
                <a:latin typeface="맑은 고딕"/>
              </a:rPr>
              <a:t>거래 금액별 예상 수익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606040"/>
            <a:ext cx="5440680" cy="45720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2606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거래 금액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06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최소 (3.5%)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60604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최대 (5.0%)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063240"/>
            <a:ext cx="5440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30632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529"/>
                </a:solidFill>
                <a:latin typeface="맑은 고딕"/>
              </a:rPr>
              <a:t>100만원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0632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맑은 고딕"/>
              </a:rPr>
              <a:t>35,000원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50,000원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566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529"/>
                </a:solidFill>
                <a:latin typeface="맑은 고딕"/>
              </a:rPr>
              <a:t>500만원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5661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맑은 고딕"/>
              </a:rPr>
              <a:t>175,000원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56616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250,000원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069080"/>
            <a:ext cx="5440680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40690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529"/>
                </a:solidFill>
                <a:latin typeface="맑은 고딕"/>
              </a:rPr>
              <a:t>1,000만원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0690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맑은 고딕"/>
              </a:rPr>
              <a:t>350,000원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0690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500,000원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572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529"/>
                </a:solidFill>
                <a:latin typeface="맑은 고딕"/>
              </a:rPr>
              <a:t>3,000만원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572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맑은 고딕"/>
              </a:rPr>
              <a:t>1,050,000원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5720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0C997"/>
                </a:solidFill>
                <a:latin typeface="맑은 고딕"/>
              </a:rPr>
              <a:t>1,500,000원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5321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C757D"/>
                </a:solidFill>
                <a:latin typeface="맑은 고딕"/>
              </a:rPr>
              <a:t>* 시장 상황에 따라 수익률은 변동될 수 있습니다.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추천 네트워크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추천 코드 1단계 / 2단계 — 단순한 2-tier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2" y="1691640"/>
            <a:ext cx="1527048" cy="777240"/>
          </a:xfrm>
          <a:prstGeom prst="roundRect">
            <a:avLst>
              <a:gd name="adj" fmla="val 30000"/>
            </a:avLst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0952" y="1783080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나 (회원)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2103120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00D2FF"/>
                </a:solidFill>
                <a:latin typeface="맑은 고딕"/>
              </a:rPr>
              <a:t>추천 코드 발급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108960"/>
            <a:ext cx="1527048" cy="777240"/>
          </a:xfrm>
          <a:prstGeom prst="roundRect">
            <a:avLst>
              <a:gd name="adj" fmla="val 30000"/>
            </a:avLst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3200400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502152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</a:rPr>
              <a:t>직접 추천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0952" y="3108960"/>
            <a:ext cx="1527048" cy="777240"/>
          </a:xfrm>
          <a:prstGeom prst="roundRect">
            <a:avLst>
              <a:gd name="adj" fmla="val 30000"/>
            </a:avLst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0952" y="3200400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3502152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</a:rPr>
              <a:t>직접 추천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3108960"/>
            <a:ext cx="1527048" cy="777240"/>
          </a:xfrm>
          <a:prstGeom prst="roundRect">
            <a:avLst>
              <a:gd name="adj" fmla="val 30000"/>
            </a:avLst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200400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2"/>
            <a:ext cx="1527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</a:rPr>
              <a:t>직접 추천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49524" y="2468880"/>
            <a:ext cx="0" cy="640080"/>
          </a:xfrm>
          <a:prstGeom prst="line">
            <a:avLst/>
          </a:prstGeom>
          <a:ln w="1270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4476" y="2468880"/>
            <a:ext cx="0" cy="640080"/>
          </a:xfrm>
          <a:prstGeom prst="line">
            <a:avLst/>
          </a:prstGeom>
          <a:ln w="1270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39428" y="2468880"/>
            <a:ext cx="0" cy="640080"/>
          </a:xfrm>
          <a:prstGeom prst="line">
            <a:avLst/>
          </a:prstGeom>
          <a:ln w="1270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9524" y="2715768"/>
            <a:ext cx="6089904" cy="0"/>
          </a:xfrm>
          <a:prstGeom prst="line">
            <a:avLst/>
          </a:prstGeom>
          <a:ln w="1270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737360" y="461772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4690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46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</a:rPr>
              <a:t>간접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171700" y="3886200"/>
            <a:ext cx="877824" cy="731520"/>
          </a:xfrm>
          <a:prstGeom prst="line">
            <a:avLst/>
          </a:prstGeom>
          <a:ln w="9525">
            <a:solidFill>
              <a:srgbClr val="E9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34640" y="461772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0" y="4690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946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</a:rPr>
              <a:t>간접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49524" y="3886200"/>
            <a:ext cx="219456" cy="731520"/>
          </a:xfrm>
          <a:prstGeom prst="line">
            <a:avLst/>
          </a:prstGeom>
          <a:ln w="9525">
            <a:solidFill>
              <a:srgbClr val="E9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82312" y="461772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82312" y="4690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4946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</a:rPr>
              <a:t>간접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216652" y="3886200"/>
            <a:ext cx="877824" cy="731520"/>
          </a:xfrm>
          <a:prstGeom prst="line">
            <a:avLst/>
          </a:prstGeom>
          <a:ln w="9525">
            <a:solidFill>
              <a:srgbClr val="E9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79592" y="461772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79592" y="4690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2" y="4946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</a:rPr>
              <a:t>간접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4476" y="3886200"/>
            <a:ext cx="219456" cy="731520"/>
          </a:xfrm>
          <a:prstGeom prst="line">
            <a:avLst/>
          </a:prstGeom>
          <a:ln w="9525">
            <a:solidFill>
              <a:srgbClr val="E9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27264" y="461772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27264" y="4690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7264" y="4946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</a:rPr>
              <a:t>간접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261604" y="3886200"/>
            <a:ext cx="877824" cy="731520"/>
          </a:xfrm>
          <a:prstGeom prst="line">
            <a:avLst/>
          </a:prstGeom>
          <a:ln w="9525">
            <a:solidFill>
              <a:srgbClr val="E9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24544" y="461772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24544" y="4690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4946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</a:rPr>
              <a:t>간접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39428" y="3886200"/>
            <a:ext cx="219456" cy="731520"/>
          </a:xfrm>
          <a:prstGeom prst="line">
            <a:avLst/>
          </a:prstGeom>
          <a:ln w="9525">
            <a:solidFill>
              <a:srgbClr val="E9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" y="5760720"/>
            <a:ext cx="868680" cy="365760"/>
          </a:xfrm>
          <a:prstGeom prst="roundRect">
            <a:avLst>
              <a:gd name="adj" fmla="val 40000"/>
            </a:avLst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5779008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1단계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37360" y="581558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내가 직접 추천한 회원의 수수료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59" y="5760720"/>
            <a:ext cx="868680" cy="365760"/>
          </a:xfrm>
          <a:prstGeom prst="roundRect">
            <a:avLst>
              <a:gd name="adj" fmla="val 40000"/>
            </a:avLst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80559" y="5779008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2단계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79" y="581558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1단계가 추천한 회원의 수수료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79" y="5760720"/>
            <a:ext cx="868680" cy="365760"/>
          </a:xfrm>
          <a:prstGeom prst="roundRect">
            <a:avLst>
              <a:gd name="adj" fmla="val 40000"/>
            </a:avLst>
          </a:prstGeom>
          <a:solidFill>
            <a:srgbClr val="F82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83879" y="5779008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3단계 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3999" y="581558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피라미드 구조 방지 (더 깊은 단계 X)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이용 방법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5단계 만에 첫 거래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847" y="169164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0847" y="1691640"/>
            <a:ext cx="2212848" cy="64008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0847" y="18562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10" name="Oval 9"/>
          <p:cNvSpPr/>
          <p:nvPr/>
        </p:nvSpPr>
        <p:spPr>
          <a:xfrm>
            <a:off x="938631" y="2560320"/>
            <a:ext cx="1097280" cy="1097280"/>
          </a:xfrm>
          <a:prstGeom prst="ellipse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0847" y="265176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07B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847" y="3886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12529"/>
                </a:solidFill>
                <a:latin typeface="맑은 고딕"/>
              </a:rPr>
              <a:t>사이트 접속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847" y="448056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kpbrdg.agency 접속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847" y="4846319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PC · 모바일 모두 지원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5135" y="169164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85135" y="1691640"/>
            <a:ext cx="2212848" cy="64008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5135" y="18562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8" name="Oval 17"/>
          <p:cNvSpPr/>
          <p:nvPr/>
        </p:nvSpPr>
        <p:spPr>
          <a:xfrm>
            <a:off x="3242919" y="2560320"/>
            <a:ext cx="1097280" cy="1097280"/>
          </a:xfrm>
          <a:prstGeom prst="ellipse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85135" y="265176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0D2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5135" y="3886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12529"/>
                </a:solidFill>
                <a:latin typeface="맑은 고딕"/>
              </a:rPr>
              <a:t>회원 가입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5135" y="448056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이메일 / ID / 비밀번호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5135" y="4846319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추천인 코드 입력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9423" y="169164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9423" y="1691640"/>
            <a:ext cx="2212848" cy="640080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9423" y="18562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6" name="Oval 25"/>
          <p:cNvSpPr/>
          <p:nvPr/>
        </p:nvSpPr>
        <p:spPr>
          <a:xfrm>
            <a:off x="5547207" y="2560320"/>
            <a:ext cx="1097280" cy="1097280"/>
          </a:xfrm>
          <a:prstGeom prst="ellipse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9423" y="265176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20C997"/>
                </a:solidFill>
                <a:latin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9423" y="3886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12529"/>
                </a:solidFill>
                <a:latin typeface="맑은 고딕"/>
              </a:rPr>
              <a:t>마이페이지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9423" y="448056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로그인 후 입출금 메뉴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9423" y="4846319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계좌·지갑 등록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3711" y="169164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93711" y="1691640"/>
            <a:ext cx="2212848" cy="6400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93711" y="18562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34" name="Oval 33"/>
          <p:cNvSpPr/>
          <p:nvPr/>
        </p:nvSpPr>
        <p:spPr>
          <a:xfrm>
            <a:off x="7851495" y="2560320"/>
            <a:ext cx="1097280" cy="1097280"/>
          </a:xfrm>
          <a:prstGeom prst="ellipse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3711" y="265176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CA678"/>
                </a:solidFill>
                <a:latin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3711" y="3886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12529"/>
                </a:solidFill>
                <a:latin typeface="맑은 고딕"/>
              </a:rPr>
              <a:t>입금 신청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3711" y="448056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USDT(테더) 또는 KRW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3711" y="4846319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에스크로 지갑으로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97999" y="169164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97999" y="1691640"/>
            <a:ext cx="2212848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97999" y="18562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42" name="Oval 41"/>
          <p:cNvSpPr/>
          <p:nvPr/>
        </p:nvSpPr>
        <p:spPr>
          <a:xfrm>
            <a:off x="10155783" y="2560320"/>
            <a:ext cx="1097280" cy="1097280"/>
          </a:xfrm>
          <a:prstGeom prst="ellipse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97999" y="265176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1E2761"/>
                </a:solidFill>
                <a:latin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97999" y="3886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12529"/>
                </a:solidFill>
                <a:latin typeface="맑은 고딕"/>
              </a:rPr>
              <a:t>거래 시작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7999" y="448056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메인 화면에서 거래 신청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97999" y="4846319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맑은 고딕"/>
              </a:rPr>
              <a:t>1시간 이내 자동 정산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989320"/>
            <a:ext cx="5788152" cy="548640"/>
          </a:xfrm>
          <a:prstGeom prst="roundRect">
            <a:avLst>
              <a:gd name="adj" fmla="val 50000"/>
            </a:avLst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0" y="6035040"/>
            <a:ext cx="5788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지금 kpbrdg.agency 에서 시작하세요 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12529"/>
                </a:solidFill>
                <a:latin typeface="맑은 고딕"/>
              </a:rPr>
              <a:t>팀 소개</a:t>
            </a:r>
          </a:p>
        </p:txBody>
      </p:sp>
      <p:sp>
        <p:nvSpPr>
          <p:cNvPr id="5" name="Oval 4"/>
          <p:cNvSpPr/>
          <p:nvPr/>
        </p:nvSpPr>
        <p:spPr>
          <a:xfrm>
            <a:off x="292608" y="54864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맑은 고딕"/>
              </a:rPr>
              <a:t>Schroder 출신 금융 전문가들이 직접 운영합니다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159" y="1463040"/>
            <a:ext cx="34747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1159" y="1463040"/>
            <a:ext cx="3474720" cy="10972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8399" y="1760220"/>
            <a:ext cx="1920240" cy="192024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im_w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79" y="1828800"/>
            <a:ext cx="1783080" cy="1783080"/>
          </a:xfrm>
          <a:prstGeom prst="ellipse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1159" y="37947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Lim Wade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" y="4297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07BFF"/>
                </a:solidFill>
                <a:latin typeface="맑은 고딕"/>
              </a:rPr>
              <a:t>부장 · 팀 마스터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8439" y="4727448"/>
            <a:ext cx="1280160" cy="1828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479" y="4892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8359" y="4892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난양공과대학교 (NTU) NBS 졸업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479" y="5184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359" y="51846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리먼브라더스 사태 예견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479" y="5477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359" y="54772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333333"/>
                </a:solidFill>
                <a:latin typeface="맑은 고딕"/>
              </a:rPr>
              <a:t>BlackRock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보고서</a:t>
            </a:r>
            <a:r>
              <a:rPr sz="1100" b="0" i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맑은 고딕"/>
              </a:rPr>
              <a:t>작성</a:t>
            </a:r>
            <a:endParaRPr sz="1100" b="0" i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5479" y="5769863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7BFF"/>
                </a:solidFill>
                <a:latin typeface="맑은 고딕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359" y="5769863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Schroder 경력 11년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8487" y="1463040"/>
            <a:ext cx="34747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58487" y="1463040"/>
            <a:ext cx="3474720" cy="109728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35727" y="1760220"/>
            <a:ext cx="1920240" cy="1920240"/>
          </a:xfrm>
          <a:prstGeom prst="ellipse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ng_car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307" y="1828800"/>
            <a:ext cx="1783080" cy="1783080"/>
          </a:xfrm>
          <a:prstGeom prst="ellipse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58487" y="37947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Ng Carol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8487" y="4297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0C997"/>
                </a:solidFill>
                <a:latin typeface="맑은 고딕"/>
              </a:rPr>
              <a:t>Mid-level Analyst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5767" y="4727448"/>
            <a:ext cx="1280160" cy="18288"/>
          </a:xfrm>
          <a:prstGeom prst="rect">
            <a:avLst/>
          </a:prstGeom>
          <a:solidFill>
            <a:srgbClr val="20C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32807" y="4892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0C997"/>
                </a:solidFill>
                <a:latin typeface="맑은 고딕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5687" y="4892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싱가포르 국립대학교 (NUS) 금융 전공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807" y="5184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0C997"/>
                </a:solidFill>
                <a:latin typeface="맑은 고딕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5687" y="51846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금융 업계 경력 7년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2807" y="5477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0C997"/>
                </a:solidFill>
                <a:latin typeface="맑은 고딕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5687" y="54772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Schroder 경력 3년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807" y="5769863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0C997"/>
                </a:solidFill>
                <a:latin typeface="맑은 고딕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5687" y="5769863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리스크 분석 · 포트폴리오 관리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5815" y="1463040"/>
            <a:ext cx="34747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25815" y="1463040"/>
            <a:ext cx="3474720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03055" y="1760220"/>
            <a:ext cx="1920240" cy="192024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tan_da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635" y="1828800"/>
            <a:ext cx="1783080" cy="1783080"/>
          </a:xfrm>
          <a:prstGeom prst="ellipse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25815" y="37947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12529"/>
                </a:solidFill>
                <a:latin typeface="맑은 고딕"/>
              </a:rPr>
              <a:t>Tan Dane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5815" y="4297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CA678"/>
                </a:solidFill>
                <a:latin typeface="맑은 고딕"/>
              </a:rPr>
              <a:t>Junior Trader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23095" y="4727448"/>
            <a:ext cx="1280160" cy="1828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00135" y="4892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A678"/>
                </a:solidFill>
                <a:latin typeface="맑은 고딕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83015" y="4892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난양공과대학교 (NTU) NBS 졸업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0135" y="5184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A678"/>
                </a:solidFill>
                <a:latin typeface="맑은 고딕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83015" y="51846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Schroder 인턴 경력 3년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0135" y="5477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A678"/>
                </a:solidFill>
                <a:latin typeface="맑은 고딕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83015" y="54772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암호화폐 시장 분석 전문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0135" y="5769863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CA678"/>
                </a:solidFill>
                <a:latin typeface="맑은 고딕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83015" y="5769863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실시간 차익 거래 운영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989320"/>
            <a:ext cx="11091672" cy="457200"/>
          </a:xfrm>
          <a:prstGeom prst="roundRect">
            <a:avLst>
              <a:gd name="adj" fmla="val 40000"/>
            </a:avLst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6016752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07BFF"/>
                </a:solidFill>
                <a:latin typeface="맑은 고딕"/>
              </a:rPr>
              <a:t>글로벌 금융기관에서 검증된 전문성으로 KPBridge를 운영합니다.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7BFF"/>
                </a:solidFill>
                <a:latin typeface="맑은 고딕"/>
              </a:rPr>
              <a:t>kpbrdg.agency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맑은 고딕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705</Words>
  <Application>Microsoft Office PowerPoint</Application>
  <PresentationFormat>와이드스크린</PresentationFormat>
  <Paragraphs>200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2026-04-26T15:40:54Z</dcterms:modified>
  <cp:category/>
</cp:coreProperties>
</file>